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7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398A-775C-4B18-9E1F-EED7C2081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139BF-39E6-4363-BD4D-50F65B49C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D2B7D-1E53-42DC-B536-348C3FBE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0CB54-1787-4364-BD1A-EF5F45A6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B15A6-1E78-42E0-9607-51C0E3F1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0D571-42FB-40A0-8F9D-A38C2AC8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9C5D5-3D29-4EB9-8EF4-345EE19FA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4C155-C0C4-4424-94AE-893C91B6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CF5F-63FA-48D6-B8EA-03819994D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9AC4F-17C7-4A47-8458-C03EB1BB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75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A77B-B14F-48BE-9F2D-DF7218804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D138-90C0-4906-8293-F5E05414E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7ACF9-FD5D-4831-A7D7-1A8D1B95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C18D5-BB29-48BE-AD8B-F8B3D8C0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E80E6-EACC-4456-9C12-FD95F88E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2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929C-0953-42EE-AE12-27600567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952D-EEE6-476F-8D82-F053D9495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01C67-1D0E-43CC-83D6-56722FBB0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9BAB4-F5D2-49B4-9017-F9418A40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E9BED-BAEC-401A-A73E-E101C394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157E7-EFFE-4F88-A1A6-720595D7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7560-DA1A-4385-B36F-2792471E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27938-24AE-47D4-97FC-42ECD016E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67B1D-0149-45ED-866C-96FD86CF3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14323-E954-4A2E-BCDA-74137AFD4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295608-75E7-4011-AF2B-38DF8CC0B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9F935C-272F-47C9-B70F-EBD0F97D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22AEF2-3681-431B-835C-E01256D27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69C7E-B060-453E-97F8-CA69A5703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5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00D1-E39A-4C53-8A89-541AF1472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F5689-23BD-4FF0-B300-F25F2FEDD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984F1-3479-45E3-918C-EC470E18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CC47F-F076-4A0D-80D4-183F0FCB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7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78F447-EF75-42D7-93ED-46002B60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A682-9E27-4233-BC41-2E0E014F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6CD18-FC2D-4353-83DB-99B6E69F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94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00CE-402E-41F7-BCB3-B7042946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7A6FD-7B41-49C8-BB94-CD19A5BA7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C6B8A-BA8F-42AB-A157-24A090377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8330F-A9B7-450F-BE57-736DFA3E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CB065-8E80-45CD-A1C7-26A56E96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1E2DB-D621-4215-8FC5-E40B8A8ED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6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A8D5-8501-4BC7-BEAE-8E2F15BF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A4B6ED-11C6-4DCE-8150-1D044ECCF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92A84-DA88-4995-9E75-C27318847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74903-BAB8-4FEA-BB4B-366C4E31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460DE-242D-4F56-8771-FDFDB0DE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75731-0527-40D6-B2C9-7A6A9EB7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0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9532-9479-4E49-84A6-BC6CB63E1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3630E-DD4D-4149-AFB9-E781212A6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73AB4-339F-48DD-985A-E2126839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FF418-500E-463A-8D81-E0D9E57F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2741B-274B-4395-BA58-D49B2932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8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C1CDE-1D21-4AA3-94EC-8DBCA69A2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ADA0C-92AC-4FD4-BB8C-EADA366F5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E115-7807-446E-9258-2B5D6273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3F3EA-D717-4E8D-AED7-19C5762E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6CC3-55A3-4C14-8FCF-6A66FD82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6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6F121-DAFE-4E35-988D-2B8E30B2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689D3-FD3D-4050-B6E0-2A26EF990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63038-DE8B-45A4-A4ED-745DFB62D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8B914-F98E-400C-BC42-7ADA5A7CAC8A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2FF5E-AF63-41CD-9B81-57E4FDE11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42655-72D9-45A8-86CB-5DB3061D3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FE80D-6485-495F-8419-C2627C54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3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A0CB-35FA-4EE8-AA69-7786FEFC52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Near-Filed Channel Modeling in Sub-THz Communications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3C11E-447D-4C5D-9F90-FC30EF5071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fa-IR" dirty="0"/>
              <a:t>پروژه ی درس شبکه های مخابراتی</a:t>
            </a:r>
          </a:p>
          <a:p>
            <a:pPr algn="r"/>
            <a:r>
              <a:rPr lang="fa-IR" dirty="0"/>
              <a:t>نام و نام خانوادگی : محمد حسام ساعدی</a:t>
            </a:r>
          </a:p>
          <a:p>
            <a:pPr algn="r"/>
            <a:r>
              <a:rPr lang="fa-IR" dirty="0"/>
              <a:t>شماره دانشجویی : 39912340119063</a:t>
            </a:r>
          </a:p>
          <a:p>
            <a:pPr algn="r"/>
            <a:r>
              <a:rPr lang="fa-IR" dirty="0"/>
              <a:t>نام استاد : دکتر مهدی اسلامی</a:t>
            </a:r>
          </a:p>
        </p:txBody>
      </p:sp>
    </p:spTree>
    <p:extLst>
      <p:ext uri="{BB962C8B-B14F-4D97-AF65-F5344CB8AC3E}">
        <p14:creationId xmlns:p14="http://schemas.microsoft.com/office/powerpoint/2010/main" val="1820565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3D78-3B13-4415-9F68-0B5B8979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مقاله مرجع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36B9C-ACEE-414D-AB3B-53E1F72E4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عنوان مقاله : </a:t>
            </a:r>
          </a:p>
          <a:p>
            <a:pPr marL="0" indent="0" algn="r">
              <a:buNone/>
            </a:pPr>
            <a:r>
              <a:rPr lang="en-US" dirty="0"/>
              <a:t>Sub‑terahertz near field channel measurements and analysis with beamforming and Bessel beams</a:t>
            </a:r>
            <a:endParaRPr lang="fa-IR" dirty="0"/>
          </a:p>
          <a:p>
            <a:pPr marL="0" indent="0" algn="r">
              <a:buNone/>
            </a:pPr>
            <a:r>
              <a:rPr lang="en-US" dirty="0"/>
              <a:t>Scientific Reports(2024)</a:t>
            </a:r>
            <a:r>
              <a:rPr lang="fa-IR" dirty="0"/>
              <a:t>ژورنال : </a:t>
            </a:r>
          </a:p>
          <a:p>
            <a:pPr marL="0" indent="0" algn="r">
              <a:buNone/>
            </a:pPr>
            <a:r>
              <a:rPr lang="en-US" dirty="0"/>
              <a:t>Impact Factor&gt;4</a:t>
            </a:r>
          </a:p>
          <a:p>
            <a:pPr marL="0" indent="0" algn="r">
              <a:buNone/>
            </a:pPr>
            <a:r>
              <a:rPr lang="fa-IR" dirty="0"/>
              <a:t> </a:t>
            </a:r>
            <a:r>
              <a:rPr lang="en-US" dirty="0"/>
              <a:t>Beamforming</a:t>
            </a:r>
            <a:r>
              <a:rPr lang="fa-IR" dirty="0"/>
              <a:t>و </a:t>
            </a:r>
            <a:r>
              <a:rPr lang="en-US" dirty="0"/>
              <a:t> Near-Filed</a:t>
            </a:r>
            <a:r>
              <a:rPr lang="fa-IR" dirty="0"/>
              <a:t>تمرکز بر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272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0A26-CB36-40E2-B4B1-85D73647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مقدمه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5A03-C634-40B6-AC4A-61120E9DE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1894451"/>
            <a:ext cx="10724535" cy="4351338"/>
          </a:xfrm>
        </p:spPr>
        <p:txBody>
          <a:bodyPr/>
          <a:lstStyle/>
          <a:p>
            <a:pPr marL="0" indent="0" algn="r">
              <a:buNone/>
            </a:pPr>
            <a:r>
              <a:rPr lang="fa-IR" dirty="0"/>
              <a:t> و نیاز به فرکانس های بالا</a:t>
            </a:r>
            <a:r>
              <a:rPr lang="en-US" dirty="0"/>
              <a:t>6G</a:t>
            </a:r>
            <a:r>
              <a:rPr lang="fa-IR" dirty="0"/>
              <a:t>رشد شبکه های </a:t>
            </a:r>
            <a:endParaRPr lang="en-US" dirty="0"/>
          </a:p>
          <a:p>
            <a:pPr marL="0" indent="0" algn="r">
              <a:buNone/>
            </a:pPr>
            <a:r>
              <a:rPr lang="en-US" dirty="0"/>
              <a:t>Sub-THz</a:t>
            </a:r>
            <a:r>
              <a:rPr lang="fa-IR" dirty="0"/>
              <a:t>استفاده از باند</a:t>
            </a:r>
          </a:p>
          <a:p>
            <a:pPr marL="0" indent="0" algn="r">
              <a:buNone/>
            </a:pPr>
            <a:r>
              <a:rPr lang="fa-IR" dirty="0"/>
              <a:t>محدودیت مدل های کلاسیک کانال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89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609C-7C1E-48DB-9538-E531E3501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454"/>
            <a:ext cx="10515600" cy="1325563"/>
          </a:xfrm>
        </p:spPr>
        <p:txBody>
          <a:bodyPr/>
          <a:lstStyle/>
          <a:p>
            <a:pPr algn="r"/>
            <a:r>
              <a:rPr lang="fa-IR" dirty="0"/>
              <a:t> چیست؟</a:t>
            </a:r>
            <a:r>
              <a:rPr lang="en-US" dirty="0"/>
              <a:t>Sub-THz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72583-DDAC-4829-8716-C7A53B013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بازه فرکانسی 100 تا 300 گیگاهرتز</a:t>
            </a:r>
          </a:p>
          <a:p>
            <a:pPr marL="0" indent="0" algn="r">
              <a:buNone/>
            </a:pPr>
            <a:r>
              <a:rPr lang="fa-IR" dirty="0"/>
              <a:t>پهنای باند بسیار بالا</a:t>
            </a:r>
          </a:p>
          <a:p>
            <a:pPr marL="0" indent="0" algn="r">
              <a:buNone/>
            </a:pPr>
            <a:r>
              <a:rPr lang="fa-IR" dirty="0"/>
              <a:t>مناسب لینک کوتاه برد و پرظرفیت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37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F50F-4599-4AD7-9A70-85E312F74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 چیست؟</a:t>
            </a:r>
            <a:r>
              <a:rPr lang="en-US" dirty="0"/>
              <a:t>Near-Filed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09688-AA6D-425B-8D61-EEAD627BE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289"/>
            <a:ext cx="10515600" cy="4351338"/>
          </a:xfrm>
        </p:spPr>
        <p:txBody>
          <a:bodyPr/>
          <a:lstStyle/>
          <a:p>
            <a:pPr marL="0" indent="0" algn="r">
              <a:buNone/>
            </a:pPr>
            <a:r>
              <a:rPr lang="fa-IR" dirty="0"/>
              <a:t>فاصله کم بین فرستنده و گیرنده</a:t>
            </a:r>
          </a:p>
          <a:p>
            <a:pPr marL="0" indent="0" algn="r">
              <a:buNone/>
            </a:pPr>
            <a:r>
              <a:rPr lang="fa-IR" dirty="0"/>
              <a:t>موج ها هنوز به صورت کروی هستند</a:t>
            </a:r>
            <a:br>
              <a:rPr lang="fa-IR" dirty="0"/>
            </a:br>
            <a:r>
              <a:rPr lang="fa-IR" dirty="0"/>
              <a:t>رفتار کانال نوسانی و پیچیده است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59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A192-D8E9-4B6A-B811-08AFAD2D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 </a:t>
            </a:r>
            <a:r>
              <a:rPr lang="en-US" dirty="0"/>
              <a:t>Near-Filed</a:t>
            </a:r>
            <a:r>
              <a:rPr lang="fa-IR" dirty="0"/>
              <a:t>در مقابل </a:t>
            </a:r>
            <a:r>
              <a:rPr lang="en-US" dirty="0"/>
              <a:t>Far-Filed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3CE04-265D-44A9-9B49-94F63FAE5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dirty="0"/>
              <a:t> </a:t>
            </a:r>
            <a:r>
              <a:rPr lang="fa-IR" dirty="0"/>
              <a:t> : افت یکنواخت توان</a:t>
            </a:r>
            <a:r>
              <a:rPr lang="en-US" dirty="0"/>
              <a:t>Far-Filed</a:t>
            </a:r>
            <a:endParaRPr lang="fa-IR" dirty="0"/>
          </a:p>
          <a:p>
            <a:pPr marL="0" indent="0" algn="r">
              <a:buNone/>
            </a:pPr>
            <a:r>
              <a:rPr lang="en-US" dirty="0"/>
              <a:t> </a:t>
            </a:r>
            <a:r>
              <a:rPr lang="fa-IR" dirty="0"/>
              <a:t> : نوسانات شدید توان</a:t>
            </a:r>
            <a:r>
              <a:rPr lang="en-US" dirty="0"/>
              <a:t>Near-Filed</a:t>
            </a:r>
            <a:endParaRPr lang="fa-IR" dirty="0"/>
          </a:p>
          <a:p>
            <a:pPr marL="0" indent="0" algn="r">
              <a:buNone/>
            </a:pPr>
            <a:r>
              <a:rPr lang="fa-IR" dirty="0"/>
              <a:t> معتبر است</a:t>
            </a:r>
            <a:r>
              <a:rPr lang="en-US" dirty="0"/>
              <a:t>Farris</a:t>
            </a:r>
            <a:r>
              <a:rPr lang="fa-IR" dirty="0"/>
              <a:t>  فقط برای مدل </a:t>
            </a:r>
            <a:r>
              <a:rPr lang="en-US" dirty="0"/>
              <a:t>Far-filed</a:t>
            </a:r>
          </a:p>
        </p:txBody>
      </p:sp>
    </p:spTree>
    <p:extLst>
      <p:ext uri="{BB962C8B-B14F-4D97-AF65-F5344CB8AC3E}">
        <p14:creationId xmlns:p14="http://schemas.microsoft.com/office/powerpoint/2010/main" val="369010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9B4C-FB28-4CAE-A2CF-CC68CCE7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Farris</a:t>
            </a:r>
            <a:r>
              <a:rPr lang="fa-IR" dirty="0"/>
              <a:t>مشکل مدل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FDBF-2B23-400C-B2A5-C09059B57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فرض موج تخت</a:t>
            </a:r>
          </a:p>
          <a:p>
            <a:pPr marL="0" indent="0" algn="r">
              <a:buNone/>
            </a:pPr>
            <a:r>
              <a:rPr lang="fa-IR" dirty="0"/>
              <a:t>عدم نمایش نوسانات</a:t>
            </a:r>
          </a:p>
          <a:p>
            <a:pPr marL="0" indent="0" algn="r">
              <a:buNone/>
            </a:pPr>
            <a:r>
              <a:rPr lang="fa-IR" dirty="0"/>
              <a:t> و آنتن های بزرگ</a:t>
            </a:r>
            <a:r>
              <a:rPr lang="en-US" dirty="0"/>
              <a:t>Sub-THz</a:t>
            </a:r>
            <a:r>
              <a:rPr lang="fa-IR" dirty="0"/>
              <a:t>عدم دقت در </a:t>
            </a:r>
          </a:p>
        </p:txBody>
      </p:sp>
    </p:spTree>
    <p:extLst>
      <p:ext uri="{BB962C8B-B14F-4D97-AF65-F5344CB8AC3E}">
        <p14:creationId xmlns:p14="http://schemas.microsoft.com/office/powerpoint/2010/main" val="322452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97D3-42FA-4565-9CC5-2571A376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هدف پروژه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DBB57-9CCD-4AF8-BA3A-E9F474C9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 </a:t>
            </a:r>
            <a:r>
              <a:rPr lang="en-US" dirty="0"/>
              <a:t>Sub-THz</a:t>
            </a:r>
            <a:r>
              <a:rPr lang="fa-IR" dirty="0"/>
              <a:t> در </a:t>
            </a:r>
            <a:r>
              <a:rPr lang="en-US" dirty="0"/>
              <a:t>Near-Filed</a:t>
            </a:r>
            <a:r>
              <a:rPr lang="fa-IR" dirty="0"/>
              <a:t>شبیه سازی </a:t>
            </a:r>
          </a:p>
          <a:p>
            <a:pPr marL="0" indent="0" algn="r">
              <a:buNone/>
            </a:pPr>
            <a:r>
              <a:rPr lang="en-US" dirty="0"/>
              <a:t>Far-Filed</a:t>
            </a:r>
            <a:r>
              <a:rPr lang="fa-IR" dirty="0"/>
              <a:t>مقایسه با </a:t>
            </a:r>
          </a:p>
          <a:p>
            <a:pPr marL="0" indent="0" algn="r">
              <a:buNone/>
            </a:pPr>
            <a:r>
              <a:rPr lang="fa-IR" dirty="0"/>
              <a:t> و نویز</a:t>
            </a:r>
            <a:r>
              <a:rPr lang="en-US" dirty="0"/>
              <a:t>Beam</a:t>
            </a:r>
            <a:r>
              <a:rPr lang="fa-IR" dirty="0"/>
              <a:t>بررسی </a:t>
            </a:r>
          </a:p>
          <a:p>
            <a:pPr marL="0" indent="0" algn="r">
              <a:buNone/>
            </a:pPr>
            <a:r>
              <a:rPr lang="fa-IR" dirty="0"/>
              <a:t>تحلیل بصری کانال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47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598B-0DD0-43A4-8901-2979E9F8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ابزار های مورد استفاده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1A13E-986C-452F-AFDA-18F87FCAE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dirty="0" err="1"/>
              <a:t>Pyton</a:t>
            </a:r>
            <a:r>
              <a:rPr lang="fa-IR" dirty="0"/>
              <a:t>زبان برنامه نویسی </a:t>
            </a:r>
          </a:p>
          <a:p>
            <a:pPr marL="0" indent="0" algn="r">
              <a:buNone/>
            </a:pPr>
            <a:r>
              <a:rPr lang="en-US" dirty="0" err="1"/>
              <a:t>Jupyter</a:t>
            </a:r>
            <a:r>
              <a:rPr lang="en-US" dirty="0"/>
              <a:t> Notebook</a:t>
            </a:r>
            <a:r>
              <a:rPr lang="fa-IR" dirty="0"/>
              <a:t>محیط </a:t>
            </a:r>
          </a:p>
          <a:p>
            <a:pPr marL="0" indent="0" algn="r">
              <a:buNone/>
            </a:pPr>
            <a:r>
              <a:rPr lang="fa-IR" dirty="0"/>
              <a:t> </a:t>
            </a:r>
            <a:r>
              <a:rPr lang="en-US" dirty="0"/>
              <a:t>NumPy</a:t>
            </a:r>
            <a:r>
              <a:rPr lang="fa-IR" dirty="0"/>
              <a:t> و </a:t>
            </a:r>
            <a:r>
              <a:rPr lang="en-US" dirty="0" err="1"/>
              <a:t>Scipy</a:t>
            </a:r>
            <a:r>
              <a:rPr lang="fa-IR" dirty="0"/>
              <a:t> و </a:t>
            </a:r>
            <a:r>
              <a:rPr lang="en-US" dirty="0"/>
              <a:t>Matplotlib</a:t>
            </a:r>
            <a:r>
              <a:rPr lang="fa-IR" dirty="0"/>
              <a:t>کتابخانه ها 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918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F3C5-C881-419E-B2D5-FBD6E22E5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پارامتر های سیستم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96976-BC41-4A50-BADE-DD1ECAA64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 140</a:t>
            </a:r>
            <a:r>
              <a:rPr lang="en-US" dirty="0"/>
              <a:t>GHz</a:t>
            </a:r>
            <a:r>
              <a:rPr lang="fa-IR" dirty="0"/>
              <a:t> فرکانس : </a:t>
            </a:r>
          </a:p>
          <a:p>
            <a:pPr marL="0" indent="0" algn="r">
              <a:buNone/>
            </a:pPr>
            <a:r>
              <a:rPr lang="fa-IR" dirty="0"/>
              <a:t>توان فرستنده : نرمال شده</a:t>
            </a:r>
          </a:p>
          <a:p>
            <a:pPr marL="0" indent="0" algn="r">
              <a:buNone/>
            </a:pPr>
            <a:r>
              <a:rPr lang="fa-IR" dirty="0"/>
              <a:t>فاصله : 0.05 تا 2 متر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98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711F-AC42-4382-A9B9-4E6632BE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Far-Filed</a:t>
            </a:r>
            <a:r>
              <a:rPr lang="fa-IR" dirty="0"/>
              <a:t>مدل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2F1F8-1A59-4EFA-9B8F-8DD9A60CE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dirty="0" err="1"/>
              <a:t>Frris</a:t>
            </a:r>
            <a:r>
              <a:rPr lang="fa-IR" dirty="0"/>
              <a:t>استفاده از معادله </a:t>
            </a:r>
          </a:p>
          <a:p>
            <a:pPr marL="0" indent="0" algn="r">
              <a:buNone/>
            </a:pPr>
            <a:r>
              <a:rPr lang="fa-IR" dirty="0"/>
              <a:t>کاهش توان با مربع فاصله</a:t>
            </a:r>
          </a:p>
          <a:p>
            <a:pPr marL="0" indent="0" algn="r">
              <a:buNone/>
            </a:pPr>
            <a:r>
              <a:rPr lang="en-US" dirty="0"/>
              <a:t>Near-Field</a:t>
            </a:r>
            <a:r>
              <a:rPr lang="fa-IR" dirty="0"/>
              <a:t>مبنای مقایسه با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CFD00-8316-44AF-84FD-9021A8362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57" y="3343744"/>
            <a:ext cx="5369583" cy="344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36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E99E-9E15-4D09-A04A-B78F915F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Near-Field</a:t>
            </a:r>
            <a:r>
              <a:rPr lang="fa-IR" dirty="0"/>
              <a:t>مدل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3DDAD-01F0-4675-8A50-856045A01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افزودن معادله نوسانی</a:t>
            </a:r>
          </a:p>
          <a:p>
            <a:pPr marL="0" indent="0" algn="r">
              <a:buNone/>
            </a:pPr>
            <a:r>
              <a:rPr lang="fa-IR" dirty="0"/>
              <a:t>استفاده از تابع کسینوس </a:t>
            </a:r>
          </a:p>
          <a:p>
            <a:pPr marL="0" indent="0" algn="r">
              <a:buNone/>
            </a:pPr>
            <a:r>
              <a:rPr lang="fa-IR" dirty="0"/>
              <a:t>نمایش رفتار واقعی کانال</a:t>
            </a: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A04FC-BC6F-4C61-B1D1-B75F18DF1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780" y="3398932"/>
            <a:ext cx="4630804" cy="309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49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0FAC-8DB5-4175-A8EC-67FDBB50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افزودن نویز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890C3-C681-461C-AE53-8D3C0FBCF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شبیه سازی شرایط واقعی</a:t>
            </a:r>
          </a:p>
          <a:p>
            <a:pPr marL="0" indent="0" algn="r">
              <a:buNone/>
            </a:pPr>
            <a:r>
              <a:rPr lang="fa-IR" dirty="0"/>
              <a:t>نویز تصادفی گوسی</a:t>
            </a:r>
          </a:p>
          <a:p>
            <a:pPr marL="0" indent="0" algn="r">
              <a:buNone/>
            </a:pPr>
            <a:r>
              <a:rPr lang="fa-IR" dirty="0"/>
              <a:t>تاثیر نویز بر توان دریافتی</a:t>
            </a:r>
          </a:p>
          <a:p>
            <a:pPr marL="0" indent="0" algn="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776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0FF6-C136-4F95-A902-7266C564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Curve Fitting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44D7A-5E5F-4543-8989-864C68920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برازش مدل تجربی</a:t>
            </a:r>
          </a:p>
          <a:p>
            <a:pPr marL="0" indent="0" algn="r">
              <a:buNone/>
            </a:pPr>
            <a:r>
              <a:rPr lang="fa-IR" dirty="0"/>
              <a:t>تخمین پارامتر های کانال</a:t>
            </a:r>
          </a:p>
          <a:p>
            <a:pPr marL="0" indent="0" algn="r">
              <a:buNone/>
            </a:pPr>
            <a:r>
              <a:rPr lang="fa-IR" dirty="0"/>
              <a:t>کاهش پیچیدگی مدل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15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2900-1CE3-404B-AF2E-44BF6EFD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Beam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9D16-53C1-46EE-B77C-BE788E196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افت توان سریع</a:t>
            </a:r>
          </a:p>
          <a:p>
            <a:pPr marL="0" indent="0" algn="r">
              <a:buNone/>
            </a:pPr>
            <a:r>
              <a:rPr lang="fa-IR" dirty="0"/>
              <a:t>حساس به فاصله</a:t>
            </a:r>
          </a:p>
          <a:p>
            <a:pPr marL="0" indent="0" algn="r">
              <a:buNone/>
            </a:pPr>
            <a:r>
              <a:rPr lang="en-US" dirty="0"/>
              <a:t>Near-</a:t>
            </a:r>
            <a:r>
              <a:rPr lang="en-US" dirty="0" err="1"/>
              <a:t>Feald</a:t>
            </a:r>
            <a:r>
              <a:rPr lang="fa-IR" dirty="0"/>
              <a:t>عملکرد ضعیف تر در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069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83419-2369-44E2-8384-287F09F1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Bessel Beam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C3B4-4BF5-4BDB-8919-9E1303C08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پایداری بیشتر</a:t>
            </a:r>
          </a:p>
          <a:p>
            <a:pPr marL="0" indent="0" algn="r">
              <a:buNone/>
            </a:pPr>
            <a:r>
              <a:rPr lang="fa-IR" dirty="0"/>
              <a:t>افت توان کمتر</a:t>
            </a:r>
          </a:p>
          <a:p>
            <a:pPr marL="0" indent="0" algn="r">
              <a:buNone/>
            </a:pPr>
            <a:r>
              <a:rPr lang="en-US" dirty="0"/>
              <a:t>Near-Field</a:t>
            </a:r>
            <a:r>
              <a:rPr lang="fa-IR" dirty="0"/>
              <a:t>مناسب با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903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BB1980-7094-4557-AEB7-9A554CBF1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834" y="839569"/>
            <a:ext cx="7675450" cy="4816285"/>
          </a:xfrm>
        </p:spPr>
      </p:pic>
    </p:spTree>
    <p:extLst>
      <p:ext uri="{BB962C8B-B14F-4D97-AF65-F5344CB8AC3E}">
        <p14:creationId xmlns:p14="http://schemas.microsoft.com/office/powerpoint/2010/main" val="1293980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C6792-80B6-4FC2-B238-1720EAF7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 توان دریافتی</a:t>
            </a:r>
            <a:r>
              <a:rPr lang="en-US" dirty="0"/>
              <a:t>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C7B83-5681-4A5A-95D6-B5AE10BF3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محور افقی : فاصله</a:t>
            </a:r>
          </a:p>
          <a:p>
            <a:pPr marL="0" indent="0" algn="r">
              <a:buNone/>
            </a:pPr>
            <a:r>
              <a:rPr lang="fa-IR" dirty="0"/>
              <a:t>محور عمودی : زاویه</a:t>
            </a:r>
          </a:p>
          <a:p>
            <a:pPr marL="0" indent="0" algn="r">
              <a:buNone/>
            </a:pPr>
            <a:r>
              <a:rPr lang="fa-IR" dirty="0"/>
              <a:t>نمایش بصری توزیع توان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153EF-40D3-4618-8B45-97EEF5BE0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981" y="2926552"/>
            <a:ext cx="4142495" cy="325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48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BC38-3C43-4EEE-BFF9-41DAF1E5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تحلیل نتایج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582A4-C04A-4F39-A1D6-D51F0DC7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 رفتار متفاوتی دارد</a:t>
            </a:r>
            <a:r>
              <a:rPr lang="en-US" dirty="0"/>
              <a:t>Near-Field</a:t>
            </a:r>
            <a:endParaRPr lang="fa-IR" dirty="0"/>
          </a:p>
          <a:p>
            <a:pPr marL="0" indent="0" algn="r">
              <a:buNone/>
            </a:pPr>
            <a:r>
              <a:rPr lang="fa-IR" dirty="0"/>
              <a:t> عملکرد بهتری د ارد</a:t>
            </a:r>
            <a:r>
              <a:rPr lang="en-US" dirty="0"/>
              <a:t>Bessel Beam</a:t>
            </a:r>
            <a:endParaRPr lang="fa-IR" dirty="0"/>
          </a:p>
          <a:p>
            <a:pPr marL="0" indent="0" algn="r">
              <a:buNone/>
            </a:pPr>
            <a:r>
              <a:rPr lang="fa-IR" dirty="0"/>
              <a:t>مدل تجربی قابل استفاده است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93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32B0-5FAF-4B2C-A8AE-467B0BFC2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نتیجه گیری نهایی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F0F68-F53D-4C44-9BDE-B45B588E8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dirty="0"/>
              <a:t> کافی نیست</a:t>
            </a:r>
            <a:r>
              <a:rPr lang="en-US" dirty="0"/>
              <a:t>Far-Field</a:t>
            </a:r>
            <a:endParaRPr lang="fa-IR" dirty="0"/>
          </a:p>
          <a:p>
            <a:pPr marL="0" indent="0" algn="r">
              <a:buNone/>
            </a:pPr>
            <a:r>
              <a:rPr lang="fa-IR" dirty="0"/>
              <a:t> ضروری است</a:t>
            </a:r>
            <a:r>
              <a:rPr lang="en-US" dirty="0"/>
              <a:t>Sub-THz</a:t>
            </a:r>
            <a:r>
              <a:rPr lang="fa-IR" dirty="0"/>
              <a:t> در </a:t>
            </a:r>
            <a:r>
              <a:rPr lang="en-US" dirty="0"/>
              <a:t>Near Field</a:t>
            </a:r>
            <a:r>
              <a:rPr lang="fa-IR" dirty="0"/>
              <a:t> </a:t>
            </a:r>
          </a:p>
          <a:p>
            <a:pPr marL="0" indent="0" algn="r">
              <a:buNone/>
            </a:pPr>
            <a:r>
              <a:rPr lang="fa-IR" dirty="0"/>
              <a:t>نتایج با مقاله هم خوانی دارند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65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364</Words>
  <Application>Microsoft Office PowerPoint</Application>
  <PresentationFormat>Widescreen</PresentationFormat>
  <Paragraphs>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Near-Filed Channel Modeling in Sub-THz Communications</vt:lpstr>
      <vt:lpstr>مقاله مرجع</vt:lpstr>
      <vt:lpstr>مقدمه</vt:lpstr>
      <vt:lpstr> چیست؟Sub-THz</vt:lpstr>
      <vt:lpstr> چیست؟Near-Filed</vt:lpstr>
      <vt:lpstr> Near-Filedدر مقابل Far-Filed</vt:lpstr>
      <vt:lpstr>Farrisمشکل مدل </vt:lpstr>
      <vt:lpstr>هدف پروژه</vt:lpstr>
      <vt:lpstr>ابزار های مورد استفاده</vt:lpstr>
      <vt:lpstr>پارامتر های سیستم</vt:lpstr>
      <vt:lpstr>Far-Filedمدل </vt:lpstr>
      <vt:lpstr>Near-Fieldمدل </vt:lpstr>
      <vt:lpstr>افزودن نویز</vt:lpstr>
      <vt:lpstr>Curve Fitting </vt:lpstr>
      <vt:lpstr>Gaussian Beam</vt:lpstr>
      <vt:lpstr>Bessel Beam</vt:lpstr>
      <vt:lpstr>PowerPoint Presentation</vt:lpstr>
      <vt:lpstr> توان دریافتیHeatmap</vt:lpstr>
      <vt:lpstr>تحلیل نتایج</vt:lpstr>
      <vt:lpstr>نتیجه گیری نهایی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Near-Filed Channel Modeling in Sub-THz Communications</dc:title>
  <dc:creator>Asus</dc:creator>
  <cp:lastModifiedBy>Asus</cp:lastModifiedBy>
  <cp:revision>7</cp:revision>
  <dcterms:created xsi:type="dcterms:W3CDTF">2026-01-01T04:45:46Z</dcterms:created>
  <dcterms:modified xsi:type="dcterms:W3CDTF">2026-01-01T06:12:13Z</dcterms:modified>
</cp:coreProperties>
</file>